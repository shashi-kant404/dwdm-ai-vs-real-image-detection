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0"/>
            <a:ext cx="7315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731520"/>
            <a:ext cx="2926080" cy="2926080"/>
          </a:xfrm>
          <a:prstGeom prst="ellipse">
            <a:avLst/>
          </a:prstGeom>
          <a:solidFill>
            <a:srgbClr val="1B8CA6">
              <a:alpha val="12000"/>
            </a:srgbClr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-274320"/>
            <a:ext cx="2011680" cy="2011680"/>
          </a:xfrm>
          <a:prstGeom prst="ellipse">
            <a:avLst/>
          </a:prstGeom>
          <a:solidFill>
            <a:srgbClr val="F0A500">
              <a:alpha val="15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347472"/>
            <a:ext cx="2560320" cy="292608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474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DWDM PROJECT  |  2024–25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841248"/>
            <a:ext cx="8046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777240" y="1536192"/>
            <a:ext cx="8046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E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Real Images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777240" y="235915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Detection &amp; Analysis Using Machine Learning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2944368"/>
            <a:ext cx="1901952" cy="822960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990088"/>
            <a:ext cx="1901952" cy="4526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21,278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240" y="3438144"/>
            <a:ext cx="1901952" cy="2962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Cleaned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62072" y="2944368"/>
            <a:ext cx="1901952" cy="822960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62072" y="2990088"/>
            <a:ext cx="1901952" cy="4526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96.93%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862072" y="3438144"/>
            <a:ext cx="1901952" cy="2962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Accuracy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46904" y="2944368"/>
            <a:ext cx="1901952" cy="822960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46904" y="2990088"/>
            <a:ext cx="1901952" cy="4526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0.9939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946904" y="3438144"/>
            <a:ext cx="1901952" cy="2962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Score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031736" y="2944368"/>
            <a:ext cx="1901952" cy="822960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31736" y="2990088"/>
            <a:ext cx="1901952" cy="4526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6-Step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031736" y="3438144"/>
            <a:ext cx="1901952" cy="2962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Pipeline</a:t>
            </a:r>
            <a:endParaRPr lang="en-US" sz="9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920240"/>
            <a:ext cx="1051560" cy="105156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5"/>
                </a:solidFill>
              </a:rPr>
              <a:t>Data Warehousing &amp; Data Mining  |  Team: Rahul · Mandeep · Shashi Kant · Akshat · Prathamesh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512064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457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60120" y="4389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balanced, diverse 21,278-image dataset of AI-generated and real photographs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56032" y="960120"/>
            <a:ext cx="3977640" cy="274320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56032" y="9601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</a:rPr>
              <a:t>🤖  AI-GENERATED IMAGES  — 11,845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56032" y="1316736"/>
            <a:ext cx="3977640" cy="566928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56032" y="1316736"/>
            <a:ext cx="50292" cy="566928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13533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 v5/v6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84048" y="159105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Photorealistic portraits, landscapes, architecture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56032" y="1956816"/>
            <a:ext cx="3977640" cy="566928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6032" y="1956816"/>
            <a:ext cx="50292" cy="566928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48" y="19933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Diffusion 1.5 &amp; 2.1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84048" y="223113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text-to-image across styles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56032" y="2596896"/>
            <a:ext cx="3977640" cy="566928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56032" y="2596896"/>
            <a:ext cx="50292" cy="566928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4048" y="26334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 3 (OpenAI)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84048" y="28712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High-fidelity semantic generation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56032" y="3236976"/>
            <a:ext cx="3977640" cy="566928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56032" y="3236976"/>
            <a:ext cx="50292" cy="566928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4048" y="32735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StyleGAN2 / StyleGAN3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384048" y="351129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Unconditional face &amp; scene synthesis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56032" y="3877056"/>
            <a:ext cx="3977640" cy="566928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56032" y="3877056"/>
            <a:ext cx="50292" cy="566928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84048" y="39136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AI Datasets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84048" y="415137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public AI image collections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572000" y="960120"/>
            <a:ext cx="4315968" cy="274320"/>
          </a:xfrm>
          <a:prstGeom prst="rect">
            <a:avLst/>
          </a:prstGeom>
          <a:solidFill>
            <a:srgbClr val="1A5C34"/>
          </a:solidFill>
          <a:ln w="12700">
            <a:solidFill>
              <a:srgbClr val="1A5C3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72000" y="960120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FFFFFF"/>
                </a:solidFill>
              </a:rPr>
              <a:t>📷  REAL PHOTOGRAPHS  — 9,433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572000" y="1316736"/>
            <a:ext cx="4315968" cy="566928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572000" y="1316736"/>
            <a:ext cx="50292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00016" y="1353312"/>
            <a:ext cx="4096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2017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4700016" y="159105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Objects in Context — diverse everyday photos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572000" y="1956816"/>
            <a:ext cx="4315968" cy="566928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572000" y="1956816"/>
            <a:ext cx="50292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700016" y="1993392"/>
            <a:ext cx="4096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Flickr30k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4700016" y="223113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Crowd-sourced everyday scene photography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572000" y="2596896"/>
            <a:ext cx="4315968" cy="566928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4572000" y="2596896"/>
            <a:ext cx="50292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700016" y="2633472"/>
            <a:ext cx="4096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4700016" y="287121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High-diversity real-world object images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4572000" y="3236976"/>
            <a:ext cx="4315968" cy="566928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4572000" y="3236976"/>
            <a:ext cx="50292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700016" y="3273552"/>
            <a:ext cx="4096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Images v7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4700016" y="351129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curated photography dataset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4315968" y="960120"/>
            <a:ext cx="27432" cy="3977640"/>
          </a:xfrm>
          <a:prstGeom prst="rect">
            <a:avLst/>
          </a:prstGeom>
          <a:solidFill>
            <a:srgbClr val="1B355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5"/>
                </a:solidFill>
              </a:rPr>
              <a:t>21,278 Total  |  55.7% AI  |  44.3% Real  |  Formats: JPG · PNG · WEBP · BMP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7C5C00"/>
          </a:solidFill>
          <a:ln w="12700">
            <a:solidFill>
              <a:srgbClr val="7C5C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0A500">
              <a:alpha val="45000"/>
            </a:srgbClr>
          </a:solidFill>
          <a:ln w="12700">
            <a:solidFill>
              <a:srgbClr val="F0A50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457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PIPELINE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960120" y="438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6-step reproducible pipeline — every decision logged to CSV/JSON for full auditability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56032" y="923544"/>
            <a:ext cx="2816352" cy="1316736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56032" y="923544"/>
            <a:ext cx="50292" cy="1316736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1014984"/>
            <a:ext cx="329184" cy="329184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1014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4672" y="996696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Audit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04672" y="1289304"/>
            <a:ext cx="21762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folders · count formats · size stats · class balance check (AI=11,845 / Real=9,433)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18688" y="923544"/>
            <a:ext cx="2816352" cy="1316736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18688" y="923544"/>
            <a:ext cx="50292" cy="1316736"/>
          </a:xfrm>
          <a:prstGeom prst="rect">
            <a:avLst/>
          </a:prstGeom>
          <a:solidFill>
            <a:srgbClr val="2EBDD6"/>
          </a:solidFill>
          <a:ln w="12700">
            <a:solidFill>
              <a:srgbClr val="2EBDD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28416" y="1014984"/>
            <a:ext cx="329184" cy="329184"/>
          </a:xfrm>
          <a:prstGeom prst="ellipse">
            <a:avLst/>
          </a:prstGeom>
          <a:solidFill>
            <a:srgbClr val="2EBDD6"/>
          </a:solidFill>
          <a:ln w="12700">
            <a:solidFill>
              <a:srgbClr val="2EBDD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28416" y="1014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767328" y="996696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767328" y="1289304"/>
            <a:ext cx="21762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every image with Pillow · detect corrupt/truncated · 0 corrupt · 192 warnings found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181344" y="923544"/>
            <a:ext cx="2816352" cy="1316736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81344" y="923544"/>
            <a:ext cx="50292" cy="131673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91072" y="1014984"/>
            <a:ext cx="329184" cy="32918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91072" y="1014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729984" y="996696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729984" y="1289304"/>
            <a:ext cx="21762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exact hash + pHash near-dup detection · 0 duplicates found · dataset fully unique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56032" y="2368296"/>
            <a:ext cx="2816352" cy="1316736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56032" y="2368296"/>
            <a:ext cx="50292" cy="131673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65760" y="2459736"/>
            <a:ext cx="329184" cy="32918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5760" y="2459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04672" y="2441448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04672" y="2734056"/>
            <a:ext cx="21762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224×224 · RGB JPEG · center crop · strip EXIF · ai_000001.jpg naming scheme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218688" y="2368296"/>
            <a:ext cx="2816352" cy="1316736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218688" y="2368296"/>
            <a:ext cx="50292" cy="131673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328416" y="2459736"/>
            <a:ext cx="329184" cy="32918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328416" y="2459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3767328" y="2441448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Analysis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3767328" y="2734056"/>
            <a:ext cx="21762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stats per class · brightness/RGB/entropy/sharpness distributions · 5 plots saved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6181344" y="2368296"/>
            <a:ext cx="2816352" cy="1316736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181344" y="2368296"/>
            <a:ext cx="50292" cy="131673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291072" y="2459736"/>
            <a:ext cx="329184" cy="32918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291072" y="2459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6729984" y="2441448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Dataset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6729984" y="2734056"/>
            <a:ext cx="21762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70/15/15 · Train=14,894 · Val=3,190 · Test=3,194 · manifest CSV generated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5"/>
                </a:solidFill>
              </a:rPr>
              <a:t>Cleaning Results:  21,278 Raw  →  0 Corrupt  →  192 Warnings Fixed  →  0 Duplicates  →  21,278 Clean  →  224×224 px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4572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MODEL RESULTS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960120" y="438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models trained and evaluated on 3,194 test images · ResNet50 vs Random Forest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56032" y="914400"/>
            <a:ext cx="4133088" cy="4005072"/>
          </a:xfrm>
          <a:prstGeom prst="rect">
            <a:avLst/>
          </a:prstGeom>
          <a:solidFill>
            <a:srgbClr val="142030"/>
          </a:solidFill>
          <a:ln w="19050">
            <a:solidFill>
              <a:srgbClr val="3B1FA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56032" y="914400"/>
            <a:ext cx="4133088" cy="3474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9184" y="914400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ResNet50  (Transfer Learning)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9184" y="1344168"/>
            <a:ext cx="3986784" cy="384048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4048" y="13441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96.93%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700784" y="13441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9184" y="1801368"/>
            <a:ext cx="3986784" cy="384048"/>
          </a:xfrm>
          <a:prstGeom prst="rect">
            <a:avLst/>
          </a:prstGeom>
          <a:solidFill>
            <a:srgbClr val="0F1A28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48" y="18013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0.9939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700784" y="18013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29184" y="2258568"/>
            <a:ext cx="3986784" cy="384048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22585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0.9937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700784" y="22585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Precision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29184" y="2715768"/>
            <a:ext cx="3986784" cy="384048"/>
          </a:xfrm>
          <a:prstGeom prst="rect">
            <a:avLst/>
          </a:prstGeom>
          <a:solidFill>
            <a:srgbClr val="0F1A28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" y="27157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1,726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700784" y="27157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 (AI ✓)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29184" y="3172968"/>
            <a:ext cx="3986784" cy="384048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84048" y="31729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1,370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700784" y="31729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 (Real ✓)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29184" y="3630168"/>
            <a:ext cx="3986784" cy="384048"/>
          </a:xfrm>
          <a:prstGeom prst="rect">
            <a:avLst/>
          </a:prstGeom>
          <a:solidFill>
            <a:srgbClr val="0F1A28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84048" y="36301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700784" y="36301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29184" y="4087368"/>
            <a:ext cx="3986784" cy="384048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84048" y="40873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700784" y="40873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329184" y="4754880"/>
            <a:ext cx="3986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BB5"/>
                </a:solidFill>
              </a:rPr>
              <a:t>20 epochs · Best at Epoch 17 (Val AUC=0.9946)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4736592" y="914400"/>
            <a:ext cx="4151376" cy="4005072"/>
          </a:xfrm>
          <a:prstGeom prst="rect">
            <a:avLst/>
          </a:prstGeom>
          <a:solidFill>
            <a:srgbClr val="142030"/>
          </a:solidFill>
          <a:ln w="19050">
            <a:solidFill>
              <a:srgbClr val="7C3F0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736592" y="914400"/>
            <a:ext cx="4151376" cy="347472"/>
          </a:xfrm>
          <a:prstGeom prst="rect">
            <a:avLst/>
          </a:prstGeom>
          <a:solidFill>
            <a:srgbClr val="C2710A"/>
          </a:solidFill>
          <a:ln w="12700">
            <a:solidFill>
              <a:srgbClr val="C2710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09744" y="914400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Random Forest  (Handcrafted Features)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4809744" y="1344168"/>
            <a:ext cx="4005072" cy="384048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64608" y="13441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75.55%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181344" y="1344168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809744" y="1801368"/>
            <a:ext cx="4005072" cy="384048"/>
          </a:xfrm>
          <a:prstGeom prst="rect">
            <a:avLst/>
          </a:prstGeom>
          <a:solidFill>
            <a:srgbClr val="0F1A28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864608" y="18013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0.8283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181344" y="1801368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4809744" y="2258568"/>
            <a:ext cx="4005072" cy="384048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864608" y="22585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0.7754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6181344" y="2258568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Precision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4809744" y="2715768"/>
            <a:ext cx="4005072" cy="384048"/>
          </a:xfrm>
          <a:prstGeom prst="rect">
            <a:avLst/>
          </a:prstGeom>
          <a:solidFill>
            <a:srgbClr val="0F1A28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864608" y="27157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1,431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6181344" y="2715768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 (AI ✓)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4809744" y="3172968"/>
            <a:ext cx="4005072" cy="384048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864608" y="31729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982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6181344" y="3172968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 (Real ✓)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4809744" y="3630168"/>
            <a:ext cx="4005072" cy="384048"/>
          </a:xfrm>
          <a:prstGeom prst="rect">
            <a:avLst/>
          </a:prstGeom>
          <a:solidFill>
            <a:srgbClr val="0F1A28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864608" y="36301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347</a:t>
            </a:r>
            <a:endParaRPr lang="en-US" sz="1300" dirty="0"/>
          </a:p>
        </p:txBody>
      </p:sp>
      <p:sp>
        <p:nvSpPr>
          <p:cNvPr id="52" name="Text 49"/>
          <p:cNvSpPr/>
          <p:nvPr/>
        </p:nvSpPr>
        <p:spPr>
          <a:xfrm>
            <a:off x="6181344" y="3630168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4809744" y="4087368"/>
            <a:ext cx="4005072" cy="384048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864608" y="40873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434</a:t>
            </a:r>
            <a:endParaRPr lang="en-US" sz="1300" dirty="0"/>
          </a:p>
        </p:txBody>
      </p:sp>
      <p:sp>
        <p:nvSpPr>
          <p:cNvPr id="55" name="Text 52"/>
          <p:cNvSpPr/>
          <p:nvPr/>
        </p:nvSpPr>
        <p:spPr>
          <a:xfrm>
            <a:off x="6181344" y="4087368"/>
            <a:ext cx="2615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4809744" y="4754880"/>
            <a:ext cx="4005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BB5"/>
                </a:solidFill>
              </a:rPr>
              <a:t>15 features · 300 trees · balanced class weights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3310128" y="932688"/>
            <a:ext cx="2523744" cy="310896"/>
          </a:xfrm>
          <a:prstGeom prst="rect">
            <a:avLst/>
          </a:prstGeom>
          <a:solidFill>
            <a:srgbClr val="1A5C34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3310128" y="932688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🏆  ResNet50 WINS  +21.4pp Accuracy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200400"/>
            <a:ext cx="4114800" cy="4114800"/>
          </a:xfrm>
          <a:prstGeom prst="ellipse">
            <a:avLst/>
          </a:prstGeom>
          <a:solidFill>
            <a:srgbClr val="1B8CA6">
              <a:alpha val="8000"/>
            </a:srgbClr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F0A500">
              <a:alpha val="8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4572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TEAM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005840" y="438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DWDM Project Group — Data-Driven Detection and Analysis of AI-Generated vs Real Visual Media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65760" y="1078992"/>
            <a:ext cx="1554480" cy="1508760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13816" y="1188720"/>
            <a:ext cx="658368" cy="658368"/>
          </a:xfrm>
          <a:prstGeom prst="ellipse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381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RA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6576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5760" y="22128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Preprocessing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080260" y="1078992"/>
            <a:ext cx="1554480" cy="1508760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28316" y="1188720"/>
            <a:ext cx="658368" cy="65836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2831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MA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08026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Mandeep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080260" y="22128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EDA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794760" y="1078992"/>
            <a:ext cx="1554480" cy="1508760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242816" y="1188720"/>
            <a:ext cx="658368" cy="65836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4281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SK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379476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Shashi Kant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794760" y="22128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Evaluation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509260" y="1078992"/>
            <a:ext cx="1554480" cy="1508760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957316" y="1188720"/>
            <a:ext cx="658368" cy="6583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5731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AK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550926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Akshat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509260" y="22128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Random Forest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7223760" y="1078992"/>
            <a:ext cx="1554480" cy="1508760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671816" y="1188720"/>
            <a:ext cx="658368" cy="6583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671816" y="11887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7223760" y="1920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Prathamesh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223760" y="22128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CNN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Report Writing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2743200"/>
            <a:ext cx="8229600" cy="1627632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57200" y="2743200"/>
            <a:ext cx="64008" cy="1627632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58368" y="27980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B8CA6"/>
                </a:solidFill>
              </a:rPr>
              <a:t>PROJECT SUMMARY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58368" y="310896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645920" y="3108960"/>
            <a:ext cx="6876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21,278 images — 11,845 AI  +  9,433 Real  |  Stratified 70/15/15 split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58368" y="336499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Cleaning: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645920" y="3364992"/>
            <a:ext cx="6876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6-step pipeline — 0 corrupt · 0 duplicates · 192 warnings handled · all 224×224 RGB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58368" y="362102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645920" y="3621024"/>
            <a:ext cx="6876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Transfer Learning — 96.93% Accuracy · AUC 0.9939 · 20 epochs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58368" y="387705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645920" y="3877056"/>
            <a:ext cx="6876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(15 features) — 75.55% Accuracy · AUC 0.8283 · 300 estimators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658368" y="413308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GAN: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645920" y="4133088"/>
            <a:ext cx="6876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DCGAN trained on AI images — generates new synthetic images for augmentation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0" y="4535424"/>
            <a:ext cx="9144000" cy="608076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57200" y="4535424"/>
            <a:ext cx="8229600" cy="608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DWDM Project  |  AI vs Real Image Detection  |  2024–25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512064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457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Dataset Overview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60120" y="4389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class distribution and visual diversity before mining patterns from pixel data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56032" y="914400"/>
            <a:ext cx="3200400" cy="3913632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56032" y="914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BDD6"/>
                </a:solidFill>
              </a:rPr>
              <a:t>Class Distribution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92608" y="3337560"/>
            <a:ext cx="969264" cy="658368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92608" y="3383280"/>
            <a:ext cx="969264" cy="36210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4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11,845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292608" y="3732581"/>
            <a:ext cx="969264" cy="2370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335024" y="3337560"/>
            <a:ext cx="969264" cy="658368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35024" y="3383280"/>
            <a:ext cx="969264" cy="36210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9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9,433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335024" y="3732581"/>
            <a:ext cx="969264" cy="2370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Photos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377440" y="3337560"/>
            <a:ext cx="969264" cy="658368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377440" y="3383280"/>
            <a:ext cx="969264" cy="36210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21,278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2377440" y="3732581"/>
            <a:ext cx="969264" cy="2370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56032" y="40416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9BB5"/>
                </a:solidFill>
              </a:rPr>
              <a:t>55.7% AI  |  44.3% Real  |  Near-balanced dataset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657600" y="914400"/>
            <a:ext cx="5230368" cy="3913632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0" y="914400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BDD6"/>
                </a:solidFill>
              </a:rPr>
              <a:t>Sample Images — AI-Generated (top row) vs Real (bottom row)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657600" y="3813048"/>
            <a:ext cx="5230368" cy="1014984"/>
          </a:xfrm>
          <a:prstGeom prst="rect">
            <a:avLst/>
          </a:prstGeom>
          <a:solidFill>
            <a:srgbClr val="0F1A28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794760" y="384048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A500"/>
                </a:solidFill>
              </a:rPr>
              <a:t>Key Visual Observations: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3794760" y="405993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images show hyper-vivid colors, perfect symmetry, fantasy themes, and overly sharp textures that differ from natural photography.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794760" y="438912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images contain natural imperfections, variable lighting, everyday objects, and authentic camera characteristics.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5"/>
                </a:solidFill>
              </a:rPr>
              <a:t>DWDM Step 5: EDA  |  Slide 6 of 12  |  AI vs Real Image Detection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512064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457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PIXEL-LEVEL FEATURE ANALYSIS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60120" y="4389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statistical differences in brightness and RGB channels between AI and real image classes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56032" y="914400"/>
            <a:ext cx="5029200" cy="2231136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56032" y="914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BDD6"/>
                </a:solidFill>
              </a:rPr>
              <a:t>Brightness Distribution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0" y="914400"/>
            <a:ext cx="3401568" cy="2231136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0" y="91440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BDD6"/>
                </a:solidFill>
              </a:rPr>
              <a:t>Mean RGB Channel Values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56032" y="3255264"/>
            <a:ext cx="2816352" cy="731520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6032" y="3291840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108.5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256032" y="3639312"/>
            <a:ext cx="2816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AI Brightness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56032" y="3803904"/>
            <a:ext cx="2816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5"/>
                </a:solidFill>
              </a:rPr>
              <a:t>Mean pixel brightness (darker overall)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3218688" y="3255264"/>
            <a:ext cx="2816352" cy="731520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18688" y="3291840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9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133.1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218688" y="3639312"/>
            <a:ext cx="2816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Real Brightness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218688" y="3803904"/>
            <a:ext cx="2816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5"/>
                </a:solidFill>
              </a:rPr>
              <a:t>Mean pixel brightness (brighter/airy)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6181344" y="3255264"/>
            <a:ext cx="2816352" cy="731520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81344" y="3291840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24.6 pts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181344" y="3639312"/>
            <a:ext cx="2816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Brightness Gap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181344" y="3803904"/>
            <a:ext cx="2816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5"/>
                </a:solidFill>
              </a:rPr>
              <a:t>Statistically significant difference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256032" y="4059936"/>
            <a:ext cx="8631936" cy="749808"/>
          </a:xfrm>
          <a:prstGeom prst="rect">
            <a:avLst/>
          </a:prstGeom>
          <a:solidFill>
            <a:srgbClr val="0F1A28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84048" y="4096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A500"/>
                </a:solidFill>
              </a:rPr>
              <a:t>📊  RGB Channel Finding: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2286000" y="4096512"/>
            <a:ext cx="6492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images have significantly higher R/G/B channel means across all three channels (R:136 G:132 B:124) compared to AI images (R:115 G:107 B:99), suggesting AI models tend to generate darker, more dramatic images with higher contrast. This ~20-point gap per channel is a strong discriminating feature.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5"/>
                </a:solidFill>
              </a:rPr>
              <a:t>DWDM Step 5: EDA  |  Slide 7 of 12  |  AI vs Real Image Detection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512064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457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FILE SIZE PATTERNS &amp; STATISTICAL FINDINGS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60120" y="4389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 compression behaviour reveals information density differences between AI and real image classes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56032" y="914400"/>
            <a:ext cx="5029200" cy="2788920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56032" y="914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BDD6"/>
                </a:solidFill>
              </a:rPr>
              <a:t>File Size Distribution (KB) — Post Standardisation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0" y="914400"/>
            <a:ext cx="3401568" cy="2788920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0" y="91440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500"/>
                </a:solidFill>
              </a:rPr>
              <a:t>Key EDA Findings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577840" y="12801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🎨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07024" y="126187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Patterns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907024" y="146304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images tend to have lower RGB means — darker, more dramatic palette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577840" y="175564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💡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07024" y="17373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907024" y="193852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mean=108.5 vs Real mean=133.1 — 24.6 point gap is statistically significant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577840" y="223113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📦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07024" y="221284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907024" y="241401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classes compress similarly after 224×224 standardisation (20–28KB range)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577840" y="270662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🔍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907024" y="268833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Style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907024" y="288950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images show hyper-vivid, unnatural textures; Real images show organic variety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5577840" y="318211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⚖️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907024" y="316382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907024" y="336499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55.7% AI vs 44.3% Real — near-balanced, no augmentation needed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256032" y="3785616"/>
            <a:ext cx="8631936" cy="1024128"/>
          </a:xfrm>
          <a:prstGeom prst="rect">
            <a:avLst/>
          </a:prstGeom>
          <a:solidFill>
            <a:srgbClr val="0F1A28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56032" y="3785616"/>
            <a:ext cx="64008" cy="1024128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38912" y="381304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BDD6"/>
                </a:solidFill>
              </a:rPr>
              <a:t>EDA Conclusion &amp; Impact on Feature Engineering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38912" y="4059936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revealed that brightness, RGB channel means, and visual texture are the strongest discriminating signals between AI and real images. These findings directly guided our feature engineering — the 15 handcrafted features for Random Forest (including brightness mean/std, RGB ratios, entropy, and Laplacian variance) were all selected based on EDA insights. ResNet50 learns these same patterns automatically from raw pixels.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5"/>
                </a:solidFill>
              </a:rPr>
              <a:t>DWDM Step 5: EDA  |  Slide 8 of 12  |  AI vs Real Image Detection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2D0F4E"/>
          </a:solidFill>
          <a:ln w="12700">
            <a:solidFill>
              <a:srgbClr val="2D0F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A78BFA">
              <a:alpha val="50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4572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 GENERATOR — DCGAN Architecture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960120" y="438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Convolutional GAN trained on AI images — generates new synthetic images for data augmentation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56032" y="914400"/>
            <a:ext cx="8631936" cy="1207008"/>
          </a:xfrm>
          <a:prstGeom prst="rect">
            <a:avLst/>
          </a:prstGeom>
          <a:solidFill>
            <a:srgbClr val="142030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" y="9509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GENERATOR ARCHITECTURE  (Noise → Image)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7472" y="1243584"/>
            <a:ext cx="1261872" cy="6583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7472" y="126187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47472" y="1700784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0E0E0"/>
                </a:solidFill>
              </a:rPr>
              <a:t>100×1×1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609344" y="1444752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BB5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773936" y="1243584"/>
            <a:ext cx="1261872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773936" y="126187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+BN+ReLU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1700784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0E0E0"/>
                </a:solidFill>
              </a:rPr>
              <a:t>512×4×4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3035808" y="1444752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BB5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200400" y="1243584"/>
            <a:ext cx="1261872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00400" y="126187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+BN+ReLU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200400" y="1700784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0E0E0"/>
                </a:solidFill>
              </a:rPr>
              <a:t>256×8×8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462272" y="1444752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BB5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626864" y="1243584"/>
            <a:ext cx="1261872" cy="6583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26864" y="126187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+BN+ReLU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626864" y="1700784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0E0E0"/>
                </a:solidFill>
              </a:rPr>
              <a:t>128×16×16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5888736" y="1444752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BB5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053328" y="1243584"/>
            <a:ext cx="1261872" cy="658368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053328" y="126187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+BN+ReLU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053328" y="1700784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0E0E0"/>
                </a:solidFill>
              </a:rPr>
              <a:t>64×32×32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1444752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9BB5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7479792" y="1243584"/>
            <a:ext cx="1261872" cy="6583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479792" y="126187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+Tanh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479792" y="1700784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0E0E0"/>
                </a:solidFill>
              </a:rPr>
              <a:t>3×64×64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256032" y="2231136"/>
            <a:ext cx="4133088" cy="2578608"/>
          </a:xfrm>
          <a:prstGeom prst="rect">
            <a:avLst/>
          </a:prstGeom>
          <a:solidFill>
            <a:srgbClr val="142030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47472" y="22860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</a:rPr>
              <a:t>Why Use a GAN in This Project?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347472" y="2633472"/>
            <a:ext cx="201168" cy="20116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47472" y="26334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🔄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21792" y="26151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</a:t>
            </a:r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Generates extra AI training images to expand dataset diversity beyond collected sources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347472" y="3163824"/>
            <a:ext cx="201168" cy="20116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47472" y="3163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🧠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21792" y="31455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Generation</a:t>
            </a:r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building the generator ourselves, we understand HOW AI images are created — improving our detector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347472" y="3694176"/>
            <a:ext cx="201168" cy="20116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47472" y="36941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📈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21792" y="36758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Classifier</a:t>
            </a:r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Adding GAN images to training set exposes ResNet50 to more AI artefact patterns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347472" y="4224528"/>
            <a:ext cx="201168" cy="20116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47472" y="42245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🔬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621792" y="4206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Value</a:t>
            </a:r>
            <a:pPr indent="0" marL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GAN + Classifier pipeline demonstrates full DWDM cycle: mine → generate → re-mine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4572000" y="2231136"/>
            <a:ext cx="4315968" cy="2578608"/>
          </a:xfrm>
          <a:prstGeom prst="rect">
            <a:avLst/>
          </a:prstGeom>
          <a:solidFill>
            <a:srgbClr val="142030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663440" y="22860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</a:rPr>
              <a:t>Training Configuration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4663440" y="2615184"/>
            <a:ext cx="4133088" cy="274320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718304" y="26334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Training Images: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6400800" y="2633472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</a:rPr>
              <a:t>8,291 AI images (train split)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4663440" y="2916936"/>
            <a:ext cx="4133088" cy="274320"/>
          </a:xfrm>
          <a:prstGeom prst="rect">
            <a:avLst/>
          </a:prstGeom>
          <a:solidFill>
            <a:srgbClr val="0F1A28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718304" y="293522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Output Size: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6400800" y="2935224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</a:rPr>
              <a:t>64×64 RGB images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4663440" y="3218688"/>
            <a:ext cx="4133088" cy="274320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718304" y="323697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Noise Dimension: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6400800" y="3236976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</a:rPr>
              <a:t>100-dimensional latent vector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4663440" y="3520440"/>
            <a:ext cx="4133088" cy="274320"/>
          </a:xfrm>
          <a:prstGeom prst="rect">
            <a:avLst/>
          </a:prstGeom>
          <a:solidFill>
            <a:srgbClr val="0F1A28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4718304" y="353872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Generator Params: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6400800" y="3538728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</a:rPr>
              <a:t>3,576,704 parameters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4663440" y="3822192"/>
            <a:ext cx="4133088" cy="274320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718304" y="38404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Discriminator Params: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6400800" y="3840480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</a:rPr>
              <a:t>2,765,568 parameters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4663440" y="4123944"/>
            <a:ext cx="4133088" cy="274320"/>
          </a:xfrm>
          <a:prstGeom prst="rect">
            <a:avLst/>
          </a:prstGeom>
          <a:solidFill>
            <a:srgbClr val="0F1A28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4718304" y="41422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Optimiser:</a:t>
            </a:r>
            <a:endParaRPr lang="en-US" sz="900" dirty="0"/>
          </a:p>
        </p:txBody>
      </p:sp>
      <p:sp>
        <p:nvSpPr>
          <p:cNvPr id="65" name="Text 62"/>
          <p:cNvSpPr/>
          <p:nvPr/>
        </p:nvSpPr>
        <p:spPr>
          <a:xfrm>
            <a:off x="6400800" y="4142232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</a:rPr>
              <a:t>AdamW · LR=2e-4 · Beta1=0.5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4663440" y="4425696"/>
            <a:ext cx="4133088" cy="274320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718304" y="444398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Epochs: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6400800" y="4443984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</a:rPr>
              <a:t>100 (GPU: ~45 min)</a:t>
            </a:r>
            <a:endParaRPr lang="en-US" sz="900" dirty="0"/>
          </a:p>
        </p:txBody>
      </p:sp>
      <p:sp>
        <p:nvSpPr>
          <p:cNvPr id="69" name="Shape 66"/>
          <p:cNvSpPr/>
          <p:nvPr/>
        </p:nvSpPr>
        <p:spPr>
          <a:xfrm>
            <a:off x="4663440" y="4727448"/>
            <a:ext cx="4133088" cy="274320"/>
          </a:xfrm>
          <a:prstGeom prst="rect">
            <a:avLst/>
          </a:prstGeom>
          <a:solidFill>
            <a:srgbClr val="0F1A28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4718304" y="474573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Label Smoothing:</a:t>
            </a:r>
            <a:endParaRPr lang="en-US" sz="900" dirty="0"/>
          </a:p>
        </p:txBody>
      </p:sp>
      <p:sp>
        <p:nvSpPr>
          <p:cNvPr id="71" name="Text 68"/>
          <p:cNvSpPr/>
          <p:nvPr/>
        </p:nvSpPr>
        <p:spPr>
          <a:xfrm>
            <a:off x="6400800" y="4745736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5"/>
                </a:solidFill>
              </a:rPr>
              <a:t>0.9 for stability</a:t>
            </a:r>
            <a:endParaRPr lang="en-US" sz="900" dirty="0"/>
          </a:p>
        </p:txBody>
      </p:sp>
      <p:sp>
        <p:nvSpPr>
          <p:cNvPr id="72" name="Shape 6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5"/>
                </a:solidFill>
              </a:rPr>
              <a:t>GAN Module  |  Slide 9 of 12  |  AI vs Real Image Detection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512064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457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— ResNet50 Learning Progress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60120" y="4389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and accuracy curves over 20 epochs + confusion matrices showing per-class prediction quality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28016"/>
            <a:ext cx="512064" cy="5120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4572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— ResNet50 Learning Progress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960120" y="438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and accuracy over 20 epochs + confusion matrices showing per-class prediction quality on test set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256032" y="914400"/>
            <a:ext cx="8631936" cy="1901952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56032" y="914400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Training Curves — Loss (left) &amp; Accuracy (right)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56032" y="2889504"/>
            <a:ext cx="2011680" cy="493776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56032" y="29169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78BFA"/>
                </a:solidFill>
              </a:rPr>
              <a:t>Epoch 1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256032" y="31455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5"/>
                </a:solidFill>
              </a:rPr>
              <a:t>Loss=0.388 · Acc=88.8%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2414016" y="2889504"/>
            <a:ext cx="2011680" cy="493776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414016" y="29169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78BFA"/>
                </a:solidFill>
              </a:rPr>
              <a:t>Epoch 5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2414016" y="31455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5"/>
                </a:solidFill>
              </a:rPr>
              <a:t>Val AUC=0.9942 · Acc=97.2%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4572000" y="2889504"/>
            <a:ext cx="2011680" cy="493776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572000" y="29169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78BFA"/>
                </a:solidFill>
              </a:rPr>
              <a:t>Epoch 17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4572000" y="31455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5"/>
                </a:solidFill>
              </a:rPr>
              <a:t>Best: Val AUC=0.9946 ★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6729984" y="2889504"/>
            <a:ext cx="2011680" cy="493776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729984" y="29169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78BFA"/>
                </a:solidFill>
              </a:rPr>
              <a:t>Epoch 20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6729984" y="31455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5"/>
                </a:solidFill>
              </a:rPr>
              <a:t>Train Acc=98.0% · Val=97.6%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256032" y="3456432"/>
            <a:ext cx="4133088" cy="1353312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56032" y="3456432"/>
            <a:ext cx="4133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78BFA"/>
                </a:solidFill>
              </a:rPr>
              <a:t>ResNet50 Confusion Matrix (Test)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4754880" y="3456432"/>
            <a:ext cx="4133088" cy="1353312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754880" y="3456432"/>
            <a:ext cx="4133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97316"/>
                </a:solidFill>
              </a:rPr>
              <a:t>Random Forest Confusion Matrix (Test)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5"/>
                </a:solidFill>
              </a:rPr>
              <a:t>Model Training  |  Slide 10 of 12  |  AI vs Real Image Detection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5C34"/>
          </a:solidFill>
          <a:ln w="12700">
            <a:solidFill>
              <a:srgbClr val="1A5C3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512064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4572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— ROC Curves &amp; Comparison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60120" y="438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discriminative ability at all classification thresholds — ResNet50 vs Random Forest on 3,194 test images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56032" y="914400"/>
            <a:ext cx="3291840" cy="2267712"/>
          </a:xfrm>
          <a:prstGeom prst="rect">
            <a:avLst/>
          </a:prstGeom>
          <a:solidFill>
            <a:srgbClr val="142030"/>
          </a:solidFill>
          <a:ln w="19050">
            <a:solidFill>
              <a:srgbClr val="1A5C3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56032" y="914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ResNet50  (AUC = 0.9939)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749040" y="914400"/>
            <a:ext cx="3291840" cy="2267712"/>
          </a:xfrm>
          <a:prstGeom prst="rect">
            <a:avLst/>
          </a:prstGeom>
          <a:solidFill>
            <a:srgbClr val="142030"/>
          </a:solidFill>
          <a:ln w="19050">
            <a:solidFill>
              <a:srgbClr val="7C3F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49040" y="914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Random Forest  (AUC = 0.8283)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223760" y="914400"/>
            <a:ext cx="1664208" cy="2267712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23760" y="91440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A500"/>
                </a:solidFill>
              </a:rPr>
              <a:t>AUC Comparison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278624" y="1261872"/>
            <a:ext cx="1554480" cy="512064"/>
          </a:xfrm>
          <a:prstGeom prst="rect">
            <a:avLst/>
          </a:prstGeom>
          <a:solidFill>
            <a:srgbClr val="0F1A28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78624" y="12801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0.9939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278624" y="159105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5"/>
                </a:solidFill>
              </a:rPr>
              <a:t>ResNet50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278624" y="1847088"/>
            <a:ext cx="1554480" cy="512064"/>
          </a:xfrm>
          <a:prstGeom prst="rect">
            <a:avLst/>
          </a:prstGeom>
          <a:solidFill>
            <a:srgbClr val="0F1A28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278624" y="186537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0.8283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278624" y="217627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5"/>
                </a:solidFill>
              </a:rPr>
              <a:t>Rand.Forest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7278624" y="2432304"/>
            <a:ext cx="1554480" cy="512064"/>
          </a:xfrm>
          <a:prstGeom prst="rect">
            <a:avLst/>
          </a:prstGeom>
          <a:solidFill>
            <a:srgbClr val="0F1A28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78624" y="24505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+0.166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278624" y="276148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5"/>
                </a:solidFill>
              </a:rPr>
              <a:t>Difference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256032" y="3255264"/>
            <a:ext cx="8631936" cy="1554480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56032" y="3255264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Overall Model Comparison — Test Set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BB5"/>
                </a:solidFill>
              </a:rPr>
              <a:t>Model Evaluation  |  Slide 11 of 12  |  AI vs Real Image Detection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512064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4572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— DWDM Pipeline Summary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60120" y="438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mining pipeline from raw collection to trained classifier — what we achieved and what it means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56032" y="914400"/>
            <a:ext cx="1298448" cy="804672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56032" y="95097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56032" y="135331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E0E0"/>
                </a:solidFill>
              </a:rPr>
              <a:t>21,278 images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0E0E0"/>
                </a:solidFill>
              </a:rPr>
              <a:t>AI + Real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554480" y="1188720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B5"/>
                </a:solidFill>
              </a:rPr>
              <a:t>▶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719072" y="914400"/>
            <a:ext cx="1298448" cy="80467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719072" y="95097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719072" y="135331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E0E0"/>
                </a:solidFill>
              </a:rPr>
              <a:t>6 steps · 0 corrupt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0E0E0"/>
                </a:solidFill>
              </a:rPr>
              <a:t>0 duplicates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017520" y="1188720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B5"/>
                </a:solidFill>
              </a:rPr>
              <a:t>▶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182112" y="914400"/>
            <a:ext cx="1298448" cy="8046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82112" y="95097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182112" y="135331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E0E0"/>
                </a:solidFill>
              </a:rPr>
              <a:t>Brightness · RGB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0E0E0"/>
                </a:solidFill>
              </a:rPr>
              <a:t>Entropy · Size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480560" y="1188720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B5"/>
                </a:solidFill>
              </a:rPr>
              <a:t>▶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645152" y="914400"/>
            <a:ext cx="1298448" cy="8046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45152" y="95097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645152" y="135331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E0E0"/>
                </a:solidFill>
              </a:rPr>
              <a:t>DCGAN · 64×64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0E0E0"/>
                </a:solidFill>
              </a:rPr>
              <a:t>Data augmentation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943600" y="1188720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B5"/>
                </a:solidFill>
              </a:rPr>
              <a:t>▶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108192" y="914400"/>
            <a:ext cx="1298448" cy="8046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08192" y="95097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108192" y="135331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E0E0"/>
                </a:solidFill>
              </a:rPr>
              <a:t>ResNet50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0E0E0"/>
                </a:solidFill>
              </a:rPr>
              <a:t>Random Forest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406640" y="1188720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BB5"/>
                </a:solidFill>
              </a:rPr>
              <a:t>▶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571232" y="914400"/>
            <a:ext cx="1298448" cy="8046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571232" y="950976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571232" y="135331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E0E0"/>
                </a:solidFill>
              </a:rPr>
              <a:t>96.93% Acc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0E0E0"/>
                </a:solidFill>
              </a:rPr>
              <a:t>AUC=0.9939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256032" y="1828800"/>
            <a:ext cx="4133088" cy="2798064"/>
          </a:xfrm>
          <a:prstGeom prst="rect">
            <a:avLst/>
          </a:prstGeom>
          <a:solidFill>
            <a:srgbClr val="142030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56032" y="1828800"/>
            <a:ext cx="4133088" cy="292608"/>
          </a:xfrm>
          <a:prstGeom prst="rect">
            <a:avLst/>
          </a:prstGeom>
          <a:solidFill>
            <a:srgbClr val="1B8CA6"/>
          </a:solidFill>
          <a:ln w="12700">
            <a:solidFill>
              <a:srgbClr val="1B8CA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56032" y="1828800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Mining Insights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384048" y="223113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31520" y="2194560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corrupt files, 0 duplicates — dataset integrity confirmed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384048" y="261518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📊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731520" y="2578608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gap: AI=108.5 vs Real=133.1 — 24.6pt discriminating signal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384048" y="29992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🎨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31520" y="2962656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means ~20pts lower in AI images across all 3 channels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384048" y="33832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🔍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731520" y="3346704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revealed pixel patterns that guided feature engineering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384048" y="376732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🤖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731520" y="3730752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 successfully generates 64×64 AI images from random noise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384048" y="415137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📈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731520" y="4114800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outperforms RF by 21.4pp — deep features beat statistics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4572000" y="1828800"/>
            <a:ext cx="4315968" cy="2798064"/>
          </a:xfrm>
          <a:prstGeom prst="rect">
            <a:avLst/>
          </a:prstGeom>
          <a:solidFill>
            <a:srgbClr val="14203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572000" y="1828800"/>
            <a:ext cx="4315968" cy="2926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572000" y="1828800"/>
            <a:ext cx="4315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Final Results Summary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4626864" y="2176272"/>
            <a:ext cx="4206240" cy="274320"/>
          </a:xfrm>
          <a:prstGeom prst="rect">
            <a:avLst/>
          </a:prstGeom>
          <a:solidFill>
            <a:srgbClr val="1A5C34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681728" y="220370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Model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6364224" y="220370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ResNet50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7571232" y="220370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Rand. Forest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4626864" y="2478024"/>
            <a:ext cx="4206240" cy="274320"/>
          </a:xfrm>
          <a:prstGeom prst="rect">
            <a:avLst/>
          </a:prstGeom>
          <a:solidFill>
            <a:srgbClr val="0F1A28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681728" y="250545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5"/>
                </a:solidFill>
              </a:rPr>
              <a:t>Accuracy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6364224" y="250545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96.93%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7571232" y="250545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7316"/>
                </a:solidFill>
              </a:rPr>
              <a:t>75.55%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4626864" y="2779776"/>
            <a:ext cx="4206240" cy="274320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4681728" y="280720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5"/>
                </a:solidFill>
              </a:rPr>
              <a:t>AUC-ROC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6364224" y="280720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0.9939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7571232" y="280720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7316"/>
                </a:solidFill>
              </a:rPr>
              <a:t>0.8283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4626864" y="3081528"/>
            <a:ext cx="4206240" cy="274320"/>
          </a:xfrm>
          <a:prstGeom prst="rect">
            <a:avLst/>
          </a:prstGeom>
          <a:solidFill>
            <a:srgbClr val="0F1A28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681728" y="31089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5"/>
                </a:solidFill>
              </a:rPr>
              <a:t>Avg Precision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6364224" y="310896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0.9937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7571232" y="31089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7316"/>
                </a:solidFill>
              </a:rPr>
              <a:t>0.7754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4626864" y="3383280"/>
            <a:ext cx="4206240" cy="274320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4681728" y="34107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5"/>
                </a:solidFill>
              </a:rPr>
              <a:t>True Pos (Real)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6364224" y="3410712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1,370</a:t>
            </a:r>
            <a:endParaRPr lang="en-US" sz="900" dirty="0"/>
          </a:p>
        </p:txBody>
      </p:sp>
      <p:sp>
        <p:nvSpPr>
          <p:cNvPr id="66" name="Text 63"/>
          <p:cNvSpPr/>
          <p:nvPr/>
        </p:nvSpPr>
        <p:spPr>
          <a:xfrm>
            <a:off x="7571232" y="341071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7316"/>
                </a:solidFill>
              </a:rPr>
              <a:t>982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4626864" y="3685032"/>
            <a:ext cx="4206240" cy="274320"/>
          </a:xfrm>
          <a:prstGeom prst="rect">
            <a:avLst/>
          </a:prstGeom>
          <a:solidFill>
            <a:srgbClr val="0F1A28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4681728" y="371246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5"/>
                </a:solidFill>
              </a:rPr>
              <a:t>True Neg (AI)</a:t>
            </a:r>
            <a:endParaRPr lang="en-US" sz="850" dirty="0"/>
          </a:p>
        </p:txBody>
      </p:sp>
      <p:sp>
        <p:nvSpPr>
          <p:cNvPr id="69" name="Text 66"/>
          <p:cNvSpPr/>
          <p:nvPr/>
        </p:nvSpPr>
        <p:spPr>
          <a:xfrm>
            <a:off x="6364224" y="371246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1,726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7571232" y="37124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7316"/>
                </a:solidFill>
              </a:rPr>
              <a:t>1,431</a:t>
            </a:r>
            <a:endParaRPr lang="en-US" sz="900" dirty="0"/>
          </a:p>
        </p:txBody>
      </p:sp>
      <p:sp>
        <p:nvSpPr>
          <p:cNvPr id="71" name="Shape 68"/>
          <p:cNvSpPr/>
          <p:nvPr/>
        </p:nvSpPr>
        <p:spPr>
          <a:xfrm>
            <a:off x="4626864" y="3986784"/>
            <a:ext cx="4206240" cy="274320"/>
          </a:xfrm>
          <a:prstGeom prst="rect">
            <a:avLst/>
          </a:prstGeom>
          <a:solidFill>
            <a:srgbClr val="14203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4681728" y="401421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5"/>
                </a:solidFill>
              </a:rPr>
              <a:t>False Pos</a:t>
            </a:r>
            <a:endParaRPr lang="en-US" sz="850" dirty="0"/>
          </a:p>
        </p:txBody>
      </p:sp>
      <p:sp>
        <p:nvSpPr>
          <p:cNvPr id="73" name="Text 70"/>
          <p:cNvSpPr/>
          <p:nvPr/>
        </p:nvSpPr>
        <p:spPr>
          <a:xfrm>
            <a:off x="6364224" y="401421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52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7571232" y="401421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7316"/>
                </a:solidFill>
              </a:rPr>
              <a:t>347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4626864" y="4288536"/>
            <a:ext cx="4206240" cy="274320"/>
          </a:xfrm>
          <a:prstGeom prst="rect">
            <a:avLst/>
          </a:prstGeom>
          <a:solidFill>
            <a:srgbClr val="0F1A28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4681728" y="431596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5"/>
                </a:solidFill>
              </a:rPr>
              <a:t>False Neg</a:t>
            </a:r>
            <a:endParaRPr lang="en-US" sz="850" dirty="0"/>
          </a:p>
        </p:txBody>
      </p:sp>
      <p:sp>
        <p:nvSpPr>
          <p:cNvPr id="77" name="Text 74"/>
          <p:cNvSpPr/>
          <p:nvPr/>
        </p:nvSpPr>
        <p:spPr>
          <a:xfrm>
            <a:off x="6364224" y="43159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46</a:t>
            </a:r>
            <a:endParaRPr lang="en-US" sz="900" dirty="0"/>
          </a:p>
        </p:txBody>
      </p:sp>
      <p:sp>
        <p:nvSpPr>
          <p:cNvPr id="78" name="Text 75"/>
          <p:cNvSpPr/>
          <p:nvPr/>
        </p:nvSpPr>
        <p:spPr>
          <a:xfrm>
            <a:off x="7571232" y="43159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97316"/>
                </a:solidFill>
              </a:rPr>
              <a:t>434</a:t>
            </a:r>
            <a:endParaRPr lang="en-US" sz="900" dirty="0"/>
          </a:p>
        </p:txBody>
      </p:sp>
      <p:sp>
        <p:nvSpPr>
          <p:cNvPr id="79" name="Shape 7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365760" y="468172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BB5"/>
                </a:solidFill>
              </a:rPr>
              <a:t>Future Scope: Train on FLUX / SD3 · Add ViT-B/16 for ensemble · GradCAM visualisation · Deploy as web API</a:t>
            </a:r>
            <a:endParaRPr lang="en-US" sz="900" dirty="0"/>
          </a:p>
        </p:txBody>
      </p:sp>
      <p:sp>
        <p:nvSpPr>
          <p:cNvPr id="81" name="Text 78"/>
          <p:cNvSpPr/>
          <p:nvPr/>
        </p:nvSpPr>
        <p:spPr>
          <a:xfrm>
            <a:off x="365760" y="4992624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5070"/>
                </a:solidFill>
              </a:rPr>
              <a:t>DWDM Project 2024–25  |  Team: Rahul · Mandeep · Shashi Kant · Akshat · Prathamesh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DWDM Project — AI vs Real Image Detection (Final)</dc:title>
  <dc:subject>PptxGenJS Presentation</dc:subject>
  <dc:creator>PptxGenJS</dc:creator>
  <cp:lastModifiedBy>PptxGenJS</cp:lastModifiedBy>
  <cp:revision>1</cp:revision>
  <dcterms:created xsi:type="dcterms:W3CDTF">2026-04-25T16:39:50Z</dcterms:created>
  <dcterms:modified xsi:type="dcterms:W3CDTF">2026-04-25T16:39:50Z</dcterms:modified>
</cp:coreProperties>
</file>